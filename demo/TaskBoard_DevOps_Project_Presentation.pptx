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CLOUD-NATIVE SAAS &amp; GITOPS LIFECYCLE</a:t>
            </a:r>
          </a:p>
          <a:p>
            <a:pPr>
              <a:spcBef>
                <a:spcPts val="1000"/>
              </a:spcBef>
              <a:defRPr sz="4400" b="1">
                <a:solidFill>
                  <a:srgbClr val="F8FAFC"/>
                </a:solidFill>
              </a:defRPr>
            </a:pPr>
            <a:r>
              <a:t>TaskBoard Cloud</a:t>
            </a:r>
          </a:p>
          <a:p>
            <a:pPr>
              <a:spcBef>
                <a:spcPts val="800"/>
              </a:spcBef>
              <a:defRPr sz="2200">
                <a:solidFill>
                  <a:srgbClr val="60A5FA"/>
                </a:solidFill>
              </a:defRPr>
            </a:pPr>
            <a:r>
              <a:t>Comprehensive DevOps Capstone Project Walkthrough</a:t>
            </a:r>
          </a:p>
          <a:p>
            <a:pPr>
              <a:spcBef>
                <a:spcPts val="1800"/>
              </a:spcBef>
              <a:defRPr sz="1300">
                <a:solidFill>
                  <a:srgbClr val="94A3B8"/>
                </a:solidFill>
              </a:defRPr>
            </a:pPr>
            <a:r>
              <a:t>FastAPI • React + Vite • PostgreSQL • Docker • CI/CD • DevSecOps (Trivy) • Terraform AWS • ArgoCD GitOps • Helm K8s • Prometheus &amp; Grafana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875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Repository: github.com/mr-panther01/final-project-devops   |   Architecture: 3-Tier Microservices with GitOps Delivery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Full Stack: App, Automated Pytest, Git Workflow, Docker, GitHub Actions, Trivy Scan, Terraform VPC/EKS, ArgoCD GitOps, Helm,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OVERVIEW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Executive Summary &amp; Core Engineering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PILLAR 01 • APPLICATION STACK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FastAPI + React Vite + Postgres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Clean 3-tier architecture with fully typed REST API, responsive UI dashboard, and Alembic DB migrations.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663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PILLAR 02 • DEVSECOPS &amp; TESTING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Pytest Suite &amp; Trivy Scanning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Automated SQLite in-memory test coverage, zero-failure quality gates, and automated high/critical CVE blocking in CI/CD.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663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PILLAR 03 • CLOUD INFRASTRUCTURE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Terraform AWS IaC + EKS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Multi-AZ AWS VPC provisioning (2 Public, 2 Private subnets, NAT Gateway) and Managed Kubernetes Cluster v1.31.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23360"/>
            <a:ext cx="51663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PILLAR 04 • GITOPS, K8S &amp; OBSERVABILITY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ArgoCD + Helm + Prometheus/Grafana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Declarative GitOps sync, production Helm packaging, Ingress routing, HPA autoscaling, and real-time Grafana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End-to-End DevOps Architecture &amp; Deployment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Developer Workspace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Local Git workflow with conventional commits. Local stack spun up instantly with docker-compose up.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2. Automated CI Pipeline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GitHub Actions triggers on push/PR. Executes Pytest (isolated SQLite DB) and builds production React Vite assets.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3. Multi-Stage Containers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Docker builds backend (Python 3.12-slim) and frontend (Nginx unprivileged). Non-root security user appuser:10001.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4. DevSecOps Security Gate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Aquasecurity Trivy scans images for CVEs, strictly blocking build if HIGH or CRITICAL severity vulnerabilities exist.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5. Artifact Registry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Verified images published to GitHub Container Registry (GHCR) using immutable Git commit SHA tags (${{ github.sha }}).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6. Infrastructure as Code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Terraform provisions AWS VPC (Multi-AZ, 2 Public, 2 Private subnets, NAT Gateway) and Managed EKS Kubernetes Cluster.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7. GitOps Delivery (ArgoCD)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ArgoCD monitors the repository and synchronizes helm/taskboard with the Kubernetes cluster automatically (self-healing).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8. Kubernetes Orchestration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Helm manages Deployments (2+ replicas), Services, Horizontal Pod Autoscaling (HPA), and Nginx Ingress routing.</a:t>
            </a:r>
          </a:p>
          <a:p>
            <a:pPr>
              <a:spcBef>
                <a:spcPts val="500"/>
              </a:spcBef>
              <a:defRPr sz="1200" b="1">
                <a:solidFill>
                  <a:srgbClr val="38BDF8"/>
                </a:solidFill>
              </a:defRPr>
            </a:pPr>
            <a:r>
              <a:t>9. Full Observability Stack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</a:defRPr>
            </a:pPr>
            <a:r>
              <a:t>FastAPI /metrics instrumented, Prometheus operator ServiceMonitor active, and live Grafana dashboard tracking RPS and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01 • APPLICATION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1: SaaS Full-Stack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FastAPI REST Engine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Backend providing /health, /ready, /metrics, and CRUD /api/tasks with Pydantic validation.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PostgreSQL &amp; Alembic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Relational task data storage managed via automated versioned database migrations (backend/alembic/).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React + Vite Frontend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Interactive web dashboard featuring live task statistics, KPI cards, and task modal dialogs.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Production Readiness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CORS configured, structured JSON responses, environment-driven configurations, and asynchronous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35050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02 • AUTOMATED TESTING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2: Pytest Automated Testing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Comprehensive Test Matrix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Full endpoint test coverage across health checks, CRUD lifecycle, edge case handling, and status queries.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SQLite In-Memory Isolation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Utilizes fixture-driven SQLite in-memory DB (backend/tests/conftest.py), ensuring zero pollution of production DB.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Validation &amp; Error Gate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Explicitly verifies 422 Unprocessable Entity payload handling, 404 Not Found returns, and metric endpoint integrity.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100% Passing Status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Pytest suite executes cleanly in &lt; 1 second with verbose logging, serving as an immutable gate in CI.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5264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03 • SOURCE CONTROL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3: Git Workflow &amp; Conventional Commits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Industry Standard Commits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Strict adherence to conventional commit prefixes: feat:, fix:, test:, docs:, ci:, build:, and refactor:.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Milestone Traceability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Linear commit history tracing every development stage from foundational code to cloud orchestration.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Strict .gitignore Hygiene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Guarantees zero leakage of secrets, .env files, node_modules, Python __pycache__, .venv, and Terraform *.tfstate files.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Branching &amp; PR Best Practices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Protected main branch with required CI status checks passing before merge.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3505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04 • CONTAINER HARDENING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4: Multi-Stage Docker Containerization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Backend Containerization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Python 3.12-slim base image, non-root user (appuser:10001), automated DB migrations triggered upon startup.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Frontend Multi-Stage Build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Node 20 Alpine builder compiles Vite assets; lightweight unprivileged Nginx serves static files on port 8080.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Docker Compose Orchestration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Single command deployment (`docker compose up --build`) provisioning postgres, backend, and frontend on isolated network.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Security &amp; Footprint Optimization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Eliminated development compilers, package managers, and root access from final production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3505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05 • CONTINUOUS INTEGRATION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5: GitHub Actions CI/CD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Automated Workflow Triggers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Pipeline triggered automatically on every git push and PR targeting the main branch (.github/workflows/ci-cd.yml).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Strict Quality Gates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Automated Pytest unit testing and Vite frontend build validation must pass before image packaging.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GitHub Container Registry (GHCR)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Immutable production images pushed to GHCR automatically tagged with Git commit SHA (${{ github.sha }}).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Zero Downtime Continuous Delivery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Eliminates human error through fully declarative and reproducible build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35050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06 • VULNERABILITY SCANNING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6: DevSecOps — Trivy Security Scanning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Automated Vulnerability Scan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Aquasecurity Trivy scanner embedded directly into CI pipeline scanning both Backend and Frontend container images.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Strict Break-the-Build Gate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Configured with `exit-code: 1` and `severity: HIGH,CRITICAL` to immediately fail any build introducing vulnerabilities.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Minimal Attack Surface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Utilizing hardened base images (`python:3.12-slim` and `nginx-unprivileged:alpine-slim`) with all build utilities stripped.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Security Compliance Report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Generates verifiable security logs validating 0 High/Critical CVEs before registry publication.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3505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07 • AWS IAC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7: AWS Infrastructure as Code (Terraform)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Modular HCL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Organized into vpc.tf, eks.tf, main.tf, variables.tf, and outputs.tf with safe defaults in terraform.tfvars.example.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AWS VPC &amp; Multi-AZ Networking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Provisions 2 Public Subnets, 2 Private Subnets, Internet Gateway, Elastic IP, Route Tables, and NAT Gateway.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AWS EKS Managed Cluster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Kubernetes v1.31 managed control plane with IAM roles, security groups, and automated EC2 worker node group provisioning.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Infrastructure Lifecycle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Clean plan execution (22 cloud resources created) and verified teardown with `terraform destroy` to eliminate idle AWS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26885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GITOPS AUTOMATION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GitOps Continuous Delivery with ArgoCD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FB923C"/>
                </a:solidFill>
              </a:defRPr>
            </a:pPr>
            <a:r>
              <a:t>• Declarative Desired State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The Git repository (`helm/taskboard`) serves as the single source of truth for the entire application deployment.</a:t>
            </a:r>
          </a:p>
          <a:p>
            <a:pPr>
              <a:spcBef>
                <a:spcPts val="1200"/>
              </a:spcBef>
              <a:defRPr sz="1300" b="1">
                <a:solidFill>
                  <a:srgbClr val="FB923C"/>
                </a:solidFill>
              </a:defRPr>
            </a:pPr>
            <a:r>
              <a:t>• Automated Synchronization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ArgoCD continuously compares the live Kubernetes cluster state against the Git repository; sync status displays 'Synced &amp; Healthy'.</a:t>
            </a:r>
          </a:p>
          <a:p>
            <a:pPr>
              <a:spcBef>
                <a:spcPts val="1200"/>
              </a:spcBef>
              <a:defRPr sz="1300" b="1">
                <a:solidFill>
                  <a:srgbClr val="FB923C"/>
                </a:solidFill>
              </a:defRPr>
            </a:pPr>
            <a:r>
              <a:t>• Self-Healing Capabilities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Any manual drift or accidental kubectl edits are detected and automatically reconciled back to the committed Git state.</a:t>
            </a:r>
          </a:p>
          <a:p>
            <a:pPr>
              <a:spcBef>
                <a:spcPts val="1200"/>
              </a:spcBef>
              <a:defRPr sz="1300" b="1">
                <a:solidFill>
                  <a:srgbClr val="FB923C"/>
                </a:solidFill>
              </a:defRPr>
            </a:pPr>
            <a:r>
              <a:t>• Manifest: k8s/argocd-application.yaml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Defines target revision (`main`), path (`helm/taskboard`), automated prune, and self-healing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551657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GITOPS WORKFLOW RECONCILIATION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</a:defRPr>
            </a:pPr>
            <a:r>
              <a:t>→ Git Commit &amp; Push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Developer or CI pipeline updates Helm values (e.g. image tag: ${{ github.sha }}).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</a:defRPr>
            </a:pPr>
            <a:r>
              <a:t>→ ArgoCD Polling &amp; Webhook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ArgoCD detects commit difference between Git repo and active cluster.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</a:defRPr>
            </a:pPr>
            <a:r>
              <a:t>→ Diff Evaluation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ArgoCD identifies deployment delta: OutOfSync -&gt; Syncing.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</a:defRPr>
            </a:pPr>
            <a:r>
              <a:t>→ Automated Deployment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Applies Helm templating, triggers rolling update, and prunes orphaned resources.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</a:defRPr>
            </a:pPr>
            <a:r>
              <a:t>→ Cluster Health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Status returns to: Synced • Healthy (Pods, Services, Ingress, HPA).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08 • KUBERNETES DEPLOYMENTS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8: Kubernetes Orchestration &amp; Helm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Production Helm Packaging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Custom chart in `helm/taskboard/` managing Chart.yaml, values.yaml, and deployment templates.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High Availability &amp; Pod Specs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2+ replicas per service, non-root runAsUser: 10001, securityContext, and granular CPU/memory limits &amp; requests.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Ingress &amp; Service Routing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ClusterIP services exposed via Kubernetes Nginx Ingress Controller routing `/` to Frontend and `/api` to Backend.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Horizontal Pod Autoscaling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HPA configured for FastAPI backend dynamically scaling pods (2 to 5 replicas) based on CPU/traffic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18268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09 • PROMETHEUS &amp; GRAFANA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Module 9: Observability — Prometheus &amp; Grafana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• Application Instrumentation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FastAPI instrumented with `prometheus-fastapi-instrumentator` exposing real-time metrics at `/metrics`.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Prometheus ServiceMonitor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Custom Kubernetes ServiceMonitor manifest automatically discovers and scrapes backend targets (Status: UP 1/1).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Live Grafana Dashboard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Interactive dashboard visualizing real-time metrics: request rate (RPS), p95 latency, error rates, and HTTP status codes.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• Proactive Production Telemetry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Provides actionable insights, alerts, and visibility into API latency and pod health under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790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08015" cy="35050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SUMMARY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Project Conclusion &amp; Engineering Competencies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KEY LEARNING</a:t>
            </a:r>
            <a:br/>
            <a:r>
              <a:t>01</a:t>
            </a:r>
          </a:p>
          <a:p>
            <a:pPr>
              <a:spcBef>
                <a:spcPts val="1200"/>
              </a:spcBef>
              <a:defRPr sz="1500" b="1">
                <a:solidFill>
                  <a:srgbClr val="F8FAFC"/>
                </a:solidFill>
              </a:defRPr>
            </a:pPr>
            <a:r>
              <a:t>Full Lifecycle Automation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From git commit to cloud deployment with 0 manual steps required in the release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KEY LEARNING</a:t>
            </a:r>
            <a:br/>
            <a:r>
              <a:t>02</a:t>
            </a:r>
          </a:p>
          <a:p>
            <a:pPr>
              <a:spcBef>
                <a:spcPts val="1200"/>
              </a:spcBef>
              <a:defRPr sz="1500" b="1">
                <a:solidFill>
                  <a:srgbClr val="F8FAFC"/>
                </a:solidFill>
              </a:defRPr>
            </a:pPr>
            <a:r>
              <a:t>Shift-Left Security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Trivy vulnerability scanning and least-privilege non-root containers implemented from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200" b="1">
                <a:solidFill>
                  <a:srgbClr val="FB923C"/>
                </a:solidFill>
              </a:defRPr>
            </a:pPr>
            <a:r>
              <a:t>KEY LEARNING</a:t>
            </a:r>
            <a:br/>
            <a:r>
              <a:t>03</a:t>
            </a:r>
          </a:p>
          <a:p>
            <a:pPr>
              <a:spcBef>
                <a:spcPts val="1200"/>
              </a:spcBef>
              <a:defRPr sz="1500" b="1">
                <a:solidFill>
                  <a:srgbClr val="F8FAFC"/>
                </a:solidFill>
              </a:defRPr>
            </a:pPr>
            <a:r>
              <a:t>GitOps Continuous Delivery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ArgoCD automated sync ensuring Git remains the immutable single source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KEY LEARNING</a:t>
            </a:r>
            <a:br/>
            <a:r>
              <a:t>04</a:t>
            </a:r>
          </a:p>
          <a:p>
            <a:pPr>
              <a:spcBef>
                <a:spcPts val="1200"/>
              </a:spcBef>
              <a:defRPr sz="1500" b="1">
                <a:solidFill>
                  <a:srgbClr val="F8FAFC"/>
                </a:solidFill>
              </a:defRPr>
            </a:pPr>
            <a:r>
              <a:t>Production Observability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Complete metrics pipeline with Prometheus scraping and Grafana dashboards for proactive incident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✓ Capstone Status: 100% Complete &amp; Verified across all requirements with Full Video &amp; Artifact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